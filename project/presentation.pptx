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7620000"/>
  <p:notesSz cx="7620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9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958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7619695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57886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kern="0" spc="300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MIDTERM RESEARCH PROPOSAL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22961" y="2258568"/>
            <a:ext cx="7687055" cy="2319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of Weather Information Availability on One-Hour-Ahead Bike-Sharing Demand Forecasting: A Cross-Model Study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5166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Learning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2296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Information Engineering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Taiwan Normal University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6217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27, 2026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6675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Members:  [Member A]  ·  [Member B]  ·  [Member C]  ·  [Member D]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Background and Motivation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72694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57432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105156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is a recognized driver of bike-sharing use, but a </a:t>
            </a:r>
            <a:r>
              <a:rPr lang="en-US" sz="230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r>
              <a:rPr lang="en-US" sz="2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only use weather that is already known.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37033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8775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depends on weather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3337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Cold, rain and high humidity are associated with fewer and shorter bikeshare trips (Gebhart &amp; Noland, 2014). Weather and temporal factors recur across the bike-sharing literature (Eren &amp; Uz, 2020).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242816" y="2423160"/>
            <a:ext cx="37033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5696" y="258775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Seoul hourly data is public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425696" y="3246120"/>
            <a:ext cx="3337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Seoul Bike Sharing Demand data pairs hourly rental counts with weather and calendar fields, and has been used for weather-based demand prediction (Sathishkumar &amp; Cho, 2020).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119872" y="2423160"/>
            <a:ext cx="37033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258775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must match use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302752" y="3246120"/>
            <a:ext cx="3337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forecasts are made at a forecast origin and applied to later months. Which weather is available, and how flexible the model is, should be judged out of time.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65760" y="5989320"/>
            <a:ext cx="11457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system-wide hourly rental counts only; no station, return-flow or inventory data, so no rebalancing claims.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Problem and Forecasting Scenario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72694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57432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91440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information is available at the </a:t>
            </a:r>
            <a:r>
              <a:rPr lang="en-US" sz="230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origin</a:t>
            </a:r>
            <a:r>
              <a:rPr lang="en-US" sz="2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how complex should the model be?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11457432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scenario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</a:t>
            </a: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system-wide Rented Bike Count in the target hour (rentals per hour)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origin: </a:t>
            </a: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the previous hour; only earlier observations may be used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Protocol: </a:t>
            </a: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one-step forecasts; model parameters stay frozen during testing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365760" y="3886200"/>
            <a:ext cx="37033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0507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 Information availability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previous-hour observed weather useful? How much does target-hour actual weather change the picture?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242816" y="3886200"/>
            <a:ext cx="37033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40507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 Model complexity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425696" y="452628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regularization and flexibility affect generalization from winter–spring training to later months?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119872" y="3886200"/>
            <a:ext cx="37033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40507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 Attribution and errors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302752" y="4526280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demand history, time, calendar and weather each add, and when do forecasts fail?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Work: Bike-Sharing Demand Forecasting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72694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57432" cy="37033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contributes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Eren &amp; Uz (2020)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of station-based bike-sharing research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Organizes factors behind demand: weather, built environment, public transport, socio-demographics, temporal and safety factors.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Sathishkumar &amp; Cho (2020)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Seoul hourly rentals with weather data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Weather-based, rule-based model for Seoul bike demand prediction; this line of work uses the Seoul Bike dataset adopted here.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Xin (2026)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Seoul and Washington, DC; one-hour-ahead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Probabilistic forecasting with Transformer-based and other models; reports point error and 80% interval coverage.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5257800"/>
            <a:ext cx="11457432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5257800"/>
            <a:ext cx="64008" cy="96012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525780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links weather to demand and forecasts Seoul hourly demand with learned models.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65760" y="644652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see References (slide 14). Descriptions summarize each work's stated scope.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Work: Weather Information and Predictive Models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72694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evidence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Gebhart &amp; Noland (2014), Washington, DC: cold temperature, rain and high humidity reduce both the likelihood and duration of bikeshare trips.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Eren &amp; Uz (2020): weather is one of several factor groups studied for demand.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Sathishkumar &amp; Cho (2020): weather variables used for Seoul demand prediction.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models: Xin (2026), Seoul, one hour ahead</a:t>
            </a:r>
            <a:endParaRPr lang="en-US" sz="16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54480"/>
          <a:ext cx="585216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 (rentals/h)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 coverage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N-BEATS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115.07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75.42%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115.86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89.26%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TFT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306.98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81.11%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317.72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74.01%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0" y="37490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by Xin (2026), Table 2 (p. 6). Not our results and not directly comparable to ours.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0" y="4480560"/>
            <a:ext cx="5879592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0" y="4480560"/>
            <a:ext cx="64008" cy="105156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4480560"/>
            <a:ext cx="5513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point error does not imply the best interval coverage.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65760" y="5760720"/>
            <a:ext cx="11457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point: the literature does not specify, field by field, which weather values exist at the forecast origin of a one-hour-ahead forecast.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 and Proposed Contribution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72694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Insufficiently clarified question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prior work leaves open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contribution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 timing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Xin (2026) describes target-time covariates; availability of each field at the forecast origin is not fully specified (not an allegation of leakage).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E1 / E2 / E3 information settings under one protocol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Complexity control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Models from different families are compared; controlled complexity curves are not the focus.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 α, KNN k and tree-depth curves with train vs. validation error (X2, X3)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 value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input group matters, and where errors concentrate, is not isolated.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ablation and temporal error slices (X4, X5)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983480"/>
            <a:ext cx="11457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with Xin (2026): </a:t>
            </a: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boundaries of the chronological split. </a:t>
            </a:r>
            <a:r>
              <a:rPr lang="en-US" sz="16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Different: </a:t>
            </a: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weather variables and three demand lags, a 168-hour warm-up, and the definition of eligible samples.</a:t>
            </a:r>
            <a:endParaRPr lang="en-US" sz="1650" dirty="0"/>
          </a:p>
        </p:txBody>
      </p:sp>
      <p:sp>
        <p:nvSpPr>
          <p:cNvPr id="5" name="Shape 4"/>
          <p:cNvSpPr/>
          <p:nvPr/>
        </p:nvSpPr>
        <p:spPr>
          <a:xfrm>
            <a:off x="365760" y="5852160"/>
            <a:ext cx="11457432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5852160"/>
            <a:ext cx="64008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585216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claimed: </a:t>
            </a:r>
            <a:r>
              <a:rPr lang="en-US" sz="2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weather study, any leakage in prior work, or superiority over probabilistic methods.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Aim and Research Questions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72694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1457432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132588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110916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Aim: </a:t>
            </a:r>
            <a:r>
              <a:rPr lang="en-US" sz="2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the value of </a:t>
            </a:r>
            <a:r>
              <a:rPr lang="en-US" sz="230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r>
              <a:rPr lang="en-US" sz="2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weather information from retrospective information, and study model complexity under out-of-time evaluation.</a:t>
            </a:r>
            <a:endParaRPr lang="en-US" sz="2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11457432" cy="914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question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Falsifiable hypothesis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Analyses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RQ1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previous-hour observed weather improve next-hour forecasts, and how does target-hour actual weather differ?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Quantify E1 vs. E2 vs. E3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 may beat E1; E3 may help precipitation hours but is not guaranteed to beat E2.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X1, X4, X5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RQ2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do model complexity and regularization affect out-of-time generalization?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train vs. validation error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regularization may help; complex models need not win.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X1, X2, X3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RQ3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do demand, time, calendar and weather contribute, and where do models fail?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Attribute value and locate errors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history may add most; peak hours may have larger absolute error.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X4, X5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Dataset, Preprocessing and Chronological Split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72694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8,760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observations, 14 columns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92908" y="10972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0068" y="1143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8,297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2830068" y="1627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samples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0056" y="10972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1143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4,152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5157216" y="1627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47204" y="10972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84364" y="1143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7484364" y="1627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674352" y="10972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11512" y="1143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3,425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9811512" y="1627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2514600"/>
            <a:ext cx="219732" cy="50292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492" y="2514600"/>
            <a:ext cx="5493289" cy="50292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492" y="2514600"/>
            <a:ext cx="54932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6078781" y="2514600"/>
            <a:ext cx="941707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8781" y="2514600"/>
            <a:ext cx="9417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020488" y="2514600"/>
            <a:ext cx="4802704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0488" y="2514600"/>
            <a:ext cx="4802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36576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1–7, 2017: 168-h warm-up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5492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8, 2017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255821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1, 2018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563288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1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537192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30, 2018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365760" y="3520440"/>
            <a:ext cx="26974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630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Align timestamps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502920" y="4050792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+ Hour become a unique hourly timestamp (Seoul local time); no gaps, no missing cells.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3063240" y="4251960"/>
            <a:ext cx="222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150" dirty="0"/>
          </a:p>
        </p:txBody>
      </p:sp>
      <p:sp>
        <p:nvSpPr>
          <p:cNvPr id="36" name="Shape 34"/>
          <p:cNvSpPr/>
          <p:nvPr/>
        </p:nvSpPr>
        <p:spPr>
          <a:xfrm>
            <a:off x="3285744" y="3520440"/>
            <a:ext cx="26974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2904" y="3630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Build lags first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3422904" y="4050792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lag_1, lag_24 and lag_168 are shifted on the full hourly axis; non-functioning hours stay as observed history.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5983224" y="4251960"/>
            <a:ext cx="222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150" dirty="0"/>
          </a:p>
        </p:txBody>
      </p:sp>
      <p:sp>
        <p:nvSpPr>
          <p:cNvPr id="40" name="Shape 38"/>
          <p:cNvSpPr/>
          <p:nvPr/>
        </p:nvSpPr>
        <p:spPr>
          <a:xfrm>
            <a:off x="6205728" y="3520440"/>
            <a:ext cx="26974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2888" y="3630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Select eligible rows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6342888" y="4050792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only Functioning Day = Yes targets with all lags available: 8,465 operating hours, 8,297 after warm-up.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8903208" y="4251960"/>
            <a:ext cx="222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150" dirty="0"/>
          </a:p>
        </p:txBody>
      </p:sp>
      <p:sp>
        <p:nvSpPr>
          <p:cNvPr id="44" name="Shape 42"/>
          <p:cNvSpPr/>
          <p:nvPr/>
        </p:nvSpPr>
        <p:spPr>
          <a:xfrm>
            <a:off x="9125712" y="3520440"/>
            <a:ext cx="2697480" cy="2148840"/>
          </a:xfrm>
          <a:prstGeom prst="roundRect">
            <a:avLst>
              <a:gd name="adj" fmla="val 2553"/>
            </a:avLst>
          </a:prstGeom>
          <a:solidFill>
            <a:srgbClr val="F0FDF4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62872" y="3630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Fit on train only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9262872" y="4050792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and encoders are fitted on training rows, then applied to validation and test.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365760" y="5852160"/>
            <a:ext cx="11457432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5852160"/>
            <a:ext cx="64008" cy="77724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58521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control: </a:t>
            </a:r>
            <a:r>
              <a:rPr lang="en-US" sz="2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split, past-only lags, no target-hour demand input.</a:t>
            </a:r>
            <a:endParaRPr lang="en-US" sz="2300" dirty="0"/>
          </a:p>
        </p:txBody>
      </p:sp>
      <p:sp>
        <p:nvSpPr>
          <p:cNvPr id="50" name="Text 48"/>
          <p:cNvSpPr/>
          <p:nvPr/>
        </p:nvSpPr>
        <p:spPr>
          <a:xfrm>
            <a:off x="365760" y="6766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Kaggle, Seoul Bike Sharing Demand Prediction (SeoulBikeData.csv); file checksum identical to the UCI release. Bar length proportional to calendar days.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and Information Settings (E1–E3)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72694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006840" y="1097280"/>
            <a:ext cx="2816352" cy="30632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06840" y="1097280"/>
            <a:ext cx="0" cy="3063240"/>
          </a:xfrm>
          <a:prstGeom prst="line">
            <a:avLst/>
          </a:prstGeom>
          <a:noFill/>
          <a:ln w="28575">
            <a:solidFill>
              <a:srgbClr val="111827"/>
            </a:solidFill>
            <a:prstDash val="dash"/>
          </a:ln>
        </p:spPr>
      </p:sp>
      <p:pic>
        <p:nvPicPr>
          <p:cNvPr id="7" name="Image 0" descr="eq:t168_111827 | \tau - 168\,\mathrm{h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901" y="1163574"/>
            <a:ext cx="785317" cy="1783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0" y="1426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</a:t>
            </a:r>
            <a:endParaRPr lang="en-US" sz="1350" dirty="0"/>
          </a:p>
        </p:txBody>
      </p:sp>
      <p:pic>
        <p:nvPicPr>
          <p:cNvPr id="9" name="Image 1" descr="eq:t24_111827 | \tau - 24\,\mathrm{h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286" y="1163574"/>
            <a:ext cx="690067" cy="1783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83480" y="1426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</a:t>
            </a:r>
            <a:endParaRPr lang="en-US" sz="1350" dirty="0"/>
          </a:p>
        </p:txBody>
      </p:sp>
      <p:pic>
        <p:nvPicPr>
          <p:cNvPr id="11" name="Image 2" descr="eq:t1_111827 | \tau - 1\,\mathrm{h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591" y="1163574"/>
            <a:ext cx="594817" cy="178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95160" y="1426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completed hour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9326880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hour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9445752" y="14264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350" dirty="0"/>
          </a:p>
        </p:txBody>
      </p:sp>
      <p:pic>
        <p:nvPicPr>
          <p:cNvPr id="15" name="Image 3" descr="eq:yTarget_6B7280 | y_\tau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4472" y="1469137"/>
            <a:ext cx="209283" cy="1537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5760" y="1709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· 13 features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365760" y="1984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explicit weather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365760" y="2423160"/>
            <a:ext cx="114574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3840480" y="1874520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840480" y="187452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lag_168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349240" y="1874520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349240" y="187452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lag_24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7543800" y="187452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543800" y="18745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lag_1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9627107" y="1862328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637776" y="18623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+ calendar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36576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· 18 features</a:t>
            </a:r>
            <a:endParaRPr lang="en-US" sz="1650" dirty="0"/>
          </a:p>
        </p:txBody>
      </p:sp>
      <p:sp>
        <p:nvSpPr>
          <p:cNvPr id="28" name="Text 22"/>
          <p:cNvSpPr/>
          <p:nvPr/>
        </p:nvSpPr>
        <p:spPr>
          <a:xfrm>
            <a:off x="365760" y="2715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Previous-hour observed weather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365760" y="3154680"/>
            <a:ext cx="114574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840480" y="2606040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840480" y="2606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lag_168</a:t>
            </a:r>
            <a:endParaRPr lang="en-US" sz="1350" dirty="0"/>
          </a:p>
        </p:txBody>
      </p:sp>
      <p:sp>
        <p:nvSpPr>
          <p:cNvPr id="32" name="Shape 26"/>
          <p:cNvSpPr/>
          <p:nvPr/>
        </p:nvSpPr>
        <p:spPr>
          <a:xfrm>
            <a:off x="5349240" y="2606040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349240" y="26060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lag_24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6903720" y="2606040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903720" y="26060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lag_1</a:t>
            </a:r>
            <a:endParaRPr lang="en-US" sz="1350" dirty="0"/>
          </a:p>
        </p:txBody>
      </p:sp>
      <p:sp>
        <p:nvSpPr>
          <p:cNvPr id="36" name="Shape 30"/>
          <p:cNvSpPr/>
          <p:nvPr/>
        </p:nvSpPr>
        <p:spPr>
          <a:xfrm>
            <a:off x="7863840" y="260604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863840" y="26060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50" dirty="0"/>
          </a:p>
        </p:txBody>
      </p:sp>
      <p:pic>
        <p:nvPicPr>
          <p:cNvPr id="38" name="Image 4" descr="eq:wPrev_FFFFFF | W_{\tau-1\mathrm{h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9635" y="2661380"/>
            <a:ext cx="542811" cy="200215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9624117" y="2593847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9624116" y="2593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+ calendar</a:t>
            </a:r>
            <a:endParaRPr lang="en-US" sz="1350" dirty="0"/>
          </a:p>
        </p:txBody>
      </p:sp>
      <p:sp>
        <p:nvSpPr>
          <p:cNvPr id="41" name="Text 34"/>
          <p:cNvSpPr/>
          <p:nvPr/>
        </p:nvSpPr>
        <p:spPr>
          <a:xfrm>
            <a:off x="365760" y="3172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 · 18 features</a:t>
            </a:r>
            <a:endParaRPr lang="en-US" sz="1650" dirty="0"/>
          </a:p>
        </p:txBody>
      </p:sp>
      <p:sp>
        <p:nvSpPr>
          <p:cNvPr id="42" name="Text 35"/>
          <p:cNvSpPr/>
          <p:nvPr/>
        </p:nvSpPr>
        <p:spPr>
          <a:xfrm>
            <a:off x="365760" y="3447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Target-hour weather (oracle)</a:t>
            </a:r>
            <a:endParaRPr lang="en-US" sz="1350" dirty="0"/>
          </a:p>
        </p:txBody>
      </p:sp>
      <p:sp>
        <p:nvSpPr>
          <p:cNvPr id="43" name="Shape 36"/>
          <p:cNvSpPr/>
          <p:nvPr/>
        </p:nvSpPr>
        <p:spPr>
          <a:xfrm>
            <a:off x="3840480" y="3337560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3840480" y="3337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lag_168</a:t>
            </a:r>
            <a:endParaRPr lang="en-US" sz="1350" dirty="0"/>
          </a:p>
        </p:txBody>
      </p:sp>
      <p:sp>
        <p:nvSpPr>
          <p:cNvPr id="45" name="Shape 38"/>
          <p:cNvSpPr/>
          <p:nvPr/>
        </p:nvSpPr>
        <p:spPr>
          <a:xfrm>
            <a:off x="5349240" y="3337560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5349240" y="3337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lag_24</a:t>
            </a:r>
            <a:endParaRPr lang="en-US" sz="1350" dirty="0"/>
          </a:p>
        </p:txBody>
      </p:sp>
      <p:sp>
        <p:nvSpPr>
          <p:cNvPr id="47" name="Shape 40"/>
          <p:cNvSpPr/>
          <p:nvPr/>
        </p:nvSpPr>
        <p:spPr>
          <a:xfrm>
            <a:off x="7543800" y="333756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543800" y="3337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lag_1</a:t>
            </a:r>
            <a:endParaRPr lang="en-US" sz="1350" dirty="0"/>
          </a:p>
        </p:txBody>
      </p:sp>
      <p:sp>
        <p:nvSpPr>
          <p:cNvPr id="49" name="Shape 42"/>
          <p:cNvSpPr/>
          <p:nvPr/>
        </p:nvSpPr>
        <p:spPr>
          <a:xfrm>
            <a:off x="9281160" y="333756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9281160" y="33375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+ calendar</a:t>
            </a:r>
            <a:endParaRPr lang="en-US" sz="1350" dirty="0"/>
          </a:p>
        </p:txBody>
      </p:sp>
      <p:sp>
        <p:nvSpPr>
          <p:cNvPr id="51" name="Shape 44"/>
          <p:cNvSpPr/>
          <p:nvPr/>
        </p:nvSpPr>
        <p:spPr>
          <a:xfrm>
            <a:off x="10789920" y="333756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dash"/>
          </a:ln>
        </p:spPr>
      </p:sp>
      <p:sp>
        <p:nvSpPr>
          <p:cNvPr id="52" name="Text 45"/>
          <p:cNvSpPr/>
          <p:nvPr/>
        </p:nvSpPr>
        <p:spPr>
          <a:xfrm>
            <a:off x="10789920" y="3337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50" dirty="0"/>
          </a:p>
        </p:txBody>
      </p:sp>
      <p:pic>
        <p:nvPicPr>
          <p:cNvPr id="53" name="Image 5" descr="eq:wTarget_DC2626 | W_\tau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9235" y="3397548"/>
            <a:ext cx="295770" cy="190919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8138160" y="4178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origin</a:t>
            </a:r>
            <a:endParaRPr lang="en-US" sz="1350" dirty="0"/>
          </a:p>
        </p:txBody>
      </p:sp>
      <p:sp>
        <p:nvSpPr>
          <p:cNvPr id="55" name="Text 47"/>
          <p:cNvSpPr/>
          <p:nvPr/>
        </p:nvSpPr>
        <p:spPr>
          <a:xfrm>
            <a:off x="9966960" y="4178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observed</a:t>
            </a:r>
            <a:endParaRPr lang="en-US" sz="135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526280"/>
          <a:ext cx="11457432" cy="18288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Encoding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Dim.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  Historical demand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lag_1, lag_24, lag_168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StandardScaler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 Time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 and Weekday of the target hour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/ cos pairs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 Calendar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 (4 levels), Holiday (2 levels)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One-hot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  Weather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Temperature, Humidity, Wind speed, Rainfall, Snowfall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StandardScaler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7" name="Text 48"/>
          <p:cNvSpPr/>
          <p:nvPr/>
        </p:nvSpPr>
        <p:spPr>
          <a:xfrm>
            <a:off x="365760" y="6492240"/>
            <a:ext cx="1017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= H + T + C. E2 adds the previous-hour weather; E3 replaces it with target-hour weather. E3 is a retrospective oracle, is not deployable, and need not beat E2. Target-hour demand is never an input.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Design: X1–X3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72694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11457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X1–X5 are analyses; E1–E3 are information settings. They are crossed, not eight separate experiments.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11457432" cy="21945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E1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E3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Varied or controlled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  Model comparison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Ridge, KNN, Random Forest, 3 naive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× information setting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  Ridge regularization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Penalty α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  Complexity control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KNN, Decision Tree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k; max_depth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  Weather and ablation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Ridge, Random Forest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Setting; removed group (E2)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  Temporal error analysis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E2 model by validation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Hour, month, day type, rain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74904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main analysis   ○ supplementary comparison   – not used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5760" y="4160520"/>
            <a:ext cx="37033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2702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 · Model comparison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model ranking change with the information setting?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Ridge, KNN, Random Forest × E1, E2, E3, plus 3 naive baselines</a:t>
            </a:r>
            <a:endParaRPr lang="en-US" sz="1650" dirty="0"/>
          </a:p>
        </p:txBody>
      </p:sp>
      <p:sp>
        <p:nvSpPr>
          <p:cNvPr id="6" name="Shape 8"/>
          <p:cNvSpPr/>
          <p:nvPr/>
        </p:nvSpPr>
        <p:spPr>
          <a:xfrm>
            <a:off x="4242816" y="4160520"/>
            <a:ext cx="37033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25696" y="42702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 · Ridge regularization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4425696" y="4709160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L2 strength change out-of-time error?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fixed; 10 log-spaced α; train vs. validation RMSE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8119872" y="4160520"/>
            <a:ext cx="37033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02752" y="427024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X3 · Complexity control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302752" y="4709160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added flexibility only lower training error?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fixed; KNN k = 1–97; tree max_depth = 2–16, None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365760" y="6309360"/>
            <a:ext cx="11457432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6309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 Ridge objective</a:t>
            </a:r>
            <a:endParaRPr lang="en-US" sz="1650" dirty="0"/>
          </a:p>
        </p:txBody>
      </p:sp>
      <p:pic>
        <p:nvPicPr>
          <p:cNvPr id="19" name="Image 0" descr="eq:ridge_1F2328 | \min_{\mathbf{w},b} \sum_{i=1}^{n} \left(y_i-b-\mathbf{x}_i^\top\mathbf{w}\right)^2 + \alpha\lVert\mathbf{w}\rVert_2^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120" y="6380978"/>
            <a:ext cx="3583040" cy="7162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Design: X4–X5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72694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 · Weather information and feature ablation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4a  E1 vs. E2 vs. E3. </a:t>
            </a: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and Random Forest on identical samples.</a:t>
            </a:r>
            <a:endParaRPr lang="en-US" sz="1650" dirty="0"/>
          </a:p>
        </p:txBody>
      </p:sp>
      <p:pic>
        <p:nvPicPr>
          <p:cNvPr id="7" name="Image 0" descr="eq:gain_1F2328 | \mathrm{Gain}_{\mathrm{history}} = \mathrm{MAE}(\mathrm{E1}) - \mathrm{MAE}(\mathrm{E2}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20928"/>
            <a:ext cx="3584334" cy="275280"/>
          </a:xfrm>
          <a:prstGeom prst="rect">
            <a:avLst/>
          </a:prstGeom>
        </p:spPr>
      </p:pic>
      <p:pic>
        <p:nvPicPr>
          <p:cNvPr id="8" name="Image 1" descr="eq:gap_1F2328 | \mathrm{Gap}_{\mathrm{oracle}} = \mathrm{MAE}(\mathrm{E2}) - \mathrm{MAE}(\mathrm{E3}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6332"/>
            <a:ext cx="344335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31546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4b  Group ablation on E2. </a:t>
            </a: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 fixed from Full E2; same samples.</a:t>
            </a:r>
            <a:endParaRPr lang="en-US" sz="16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49040"/>
          <a:ext cx="5577840" cy="197510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Removed columns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E2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(reference)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 H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lag_1, lag_24, lag_168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 T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 and weekday sin / cos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 C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 and holiday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 W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weather columns (= E1)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Image 2" descr="eq:ablate_1F2328 | \Delta\mathrm{MAE}_{\mathrm{remove}}(G) = \mathrm{MAE}(-G) - \mathrm{MAE}(\mathrm{Full\ E2}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925312"/>
            <a:ext cx="4749622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093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 · Temporal error analysis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6309360" y="1463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Pre-specified slices of the test period, for the best E2 model by validation MAE:</a:t>
            </a:r>
            <a:endParaRPr lang="en-US" sz="16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03120"/>
          <a:ext cx="5513832" cy="326440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Slice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 for each target hour 0–23; night 00–05, peaks 07–09 and 17–19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July to November 2018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type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Weekday vs. weekend; holiday flag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Precipitation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Rainfall &gt; 0 or Snowfall &gt; 0 vs. none (scoring label only)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Curve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vs. predicted, 2018-07-01 to 2018-07-07 (fixed in advance)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8"/>
          <p:cNvSpPr/>
          <p:nvPr/>
        </p:nvSpPr>
        <p:spPr>
          <a:xfrm>
            <a:off x="6309360" y="5486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slice reports n, mean rentals, MAE, RMSE and signed error.</a:t>
            </a:r>
            <a:endParaRPr lang="en-US" sz="1650" dirty="0"/>
          </a:p>
        </p:txBody>
      </p:sp>
      <p:sp>
        <p:nvSpPr>
          <p:cNvPr id="16" name="Shape 9"/>
          <p:cNvSpPr/>
          <p:nvPr/>
        </p:nvSpPr>
        <p:spPr>
          <a:xfrm>
            <a:off x="365760" y="6446520"/>
            <a:ext cx="11457432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365760" y="6446520"/>
            <a:ext cx="64008" cy="64008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94360" y="6446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is not a causal intervention.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Protocol, Resources and Project Timeline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72694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68122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650" dirty="0"/>
          </a:p>
        </p:txBody>
      </p:sp>
      <p:pic>
        <p:nvPicPr>
          <p:cNvPr id="7" name="Image 0" descr="eq:mae_1F2328 | \mathrm{MAE} = \frac{1}{n} \sum_{i=1}^{n} \left|y_i-\hat{y}_i\right|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84950"/>
            <a:ext cx="2456724" cy="716299"/>
          </a:xfrm>
          <a:prstGeom prst="rect">
            <a:avLst/>
          </a:prstGeom>
        </p:spPr>
      </p:pic>
      <p:pic>
        <p:nvPicPr>
          <p:cNvPr id="8" name="Image 1" descr="eq:rmse_1F2328 | \mathrm{RMSE} = \sqrt{ \frac{1}{n} \sum_{i=1}^{n} \left(y_i-\hat{y}_i\right)^2 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05077"/>
            <a:ext cx="3007998" cy="9217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4231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Unit: rentals per hour; predictions clipped at 0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MAPE (zero counts); rolling one-step forecasts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7360920" y="1097280"/>
            <a:ext cx="4462272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543800" y="1170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 and leakage control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7543800" y="15544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MAE selects hyperparameters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evaluated once on a pre-registered list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Scalers fitted on training rows only; no shuffled K-fold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6576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365760" y="4160520"/>
            <a:ext cx="11457432" cy="0"/>
          </a:xfrm>
          <a:prstGeom prst="line">
            <a:avLst/>
          </a:prstGeom>
          <a:noFill/>
          <a:ln w="31750">
            <a:solidFill>
              <a:srgbClr val="0B5CA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11480" y="4069080"/>
            <a:ext cx="182880" cy="18288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3794760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26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84048" y="434340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Moodle upload by 23:59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2048256" y="4069080"/>
            <a:ext cx="182880" cy="18288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020824" y="3794760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27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2020824" y="434340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(backup Nov 3)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3685032" y="4069080"/>
            <a:ext cx="182880" cy="18288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57600" y="3794760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3657600" y="434340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pipeline, baselines, Ridge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5321808" y="4069080"/>
            <a:ext cx="182880" cy="18288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294376" y="3794760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5294376" y="434340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X1–X3 on train / validation; freeze settings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958584" y="4069080"/>
            <a:ext cx="182880" cy="18288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931152" y="3794760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6931152" y="434340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 setup; LSTM extension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8595360" y="4069080"/>
            <a:ext cx="182880" cy="18288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567928" y="3794760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8567928" y="434340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list; run test and X5 once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10232136" y="4069080"/>
            <a:ext cx="182880" cy="18288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0204704" y="3794760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350" dirty="0"/>
          </a:p>
        </p:txBody>
      </p:sp>
      <p:sp>
        <p:nvSpPr>
          <p:cNvPr id="35" name="Text 31"/>
          <p:cNvSpPr/>
          <p:nvPr/>
        </p:nvSpPr>
        <p:spPr>
          <a:xfrm>
            <a:off x="10204704" y="4343400"/>
            <a:ext cx="1545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check, final report</a:t>
            </a:r>
            <a:endParaRPr lang="en-US" sz="1350" dirty="0"/>
          </a:p>
        </p:txBody>
      </p:sp>
      <p:sp>
        <p:nvSpPr>
          <p:cNvPr id="36" name="Shape 32"/>
          <p:cNvSpPr/>
          <p:nvPr/>
        </p:nvSpPr>
        <p:spPr>
          <a:xfrm>
            <a:off x="365760" y="5486400"/>
            <a:ext cx="37033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2920" y="5577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and budget</a:t>
            </a:r>
            <a:endParaRPr lang="en-US" sz="1650" dirty="0"/>
          </a:p>
        </p:txBody>
      </p:sp>
      <p:sp>
        <p:nvSpPr>
          <p:cNvPr id="38" name="Text 34"/>
          <p:cNvSpPr/>
          <p:nvPr/>
        </p:nvSpPr>
        <p:spPr>
          <a:xfrm>
            <a:off x="502920" y="594360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pandas, scikit-learn (Pedregosa et al., 2011), matplotlib on laptop CPUs. No additional budget.</a:t>
            </a:r>
            <a:endParaRPr lang="en-US" sz="1450" dirty="0"/>
          </a:p>
        </p:txBody>
      </p:sp>
      <p:sp>
        <p:nvSpPr>
          <p:cNvPr id="39" name="Shape 35"/>
          <p:cNvSpPr/>
          <p:nvPr/>
        </p:nvSpPr>
        <p:spPr>
          <a:xfrm>
            <a:off x="4242816" y="5486400"/>
            <a:ext cx="37033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379976" y="5577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650" dirty="0"/>
          </a:p>
        </p:txBody>
      </p:sp>
      <p:sp>
        <p:nvSpPr>
          <p:cNvPr id="41" name="Text 37"/>
          <p:cNvSpPr/>
          <p:nvPr/>
        </p:nvSpPr>
        <p:spPr>
          <a:xfrm>
            <a:off x="4379976" y="594360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data and pipeline. B: Ridge, KNN (X2, X3). C: Random Forest (X1, X4). D: X5, integration, LSTM extension.</a:t>
            </a:r>
            <a:endParaRPr lang="en-US" sz="1450" dirty="0"/>
          </a:p>
        </p:txBody>
      </p:sp>
      <p:sp>
        <p:nvSpPr>
          <p:cNvPr id="42" name="Shape 38"/>
          <p:cNvSpPr/>
          <p:nvPr/>
        </p:nvSpPr>
        <p:spPr>
          <a:xfrm>
            <a:off x="8119872" y="5486400"/>
            <a:ext cx="37033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257032" y="5577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and confidentiality</a:t>
            </a:r>
            <a:endParaRPr lang="en-US" sz="1650" dirty="0"/>
          </a:p>
        </p:txBody>
      </p:sp>
      <p:sp>
        <p:nvSpPr>
          <p:cNvPr id="44" name="Text 40"/>
          <p:cNvSpPr/>
          <p:nvPr/>
        </p:nvSpPr>
        <p:spPr>
          <a:xfrm>
            <a:off x="8257032" y="594360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aggregated hourly data; no human subjects, personal data or animal experiments. No ethics review is claimed.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Outcomes and Research Limitations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72694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analyses and deliverables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5577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× information-setting table of MAE and RMSE, with naive baselines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Gain and Gap between E1, E2 and E3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α curve; KNN k and tree-depth curves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Group-ablation chart of MAE change (H, T, C, W)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Hourly, monthly, weekday and precipitation error analysis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Reproducible, time-ordered, leakage-checked pipeline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093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limitations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309360" y="146304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city and one year; no multi-year or cross-city claim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and time are confounded in the split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rentals are not station demand or unmet demand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assumes the previous hour is already published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 is oracle information, not a weather forecast</a:t>
            </a:r>
            <a:endParaRPr lang="en-US" sz="16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forecasts only; no interval calibration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65760" y="5029200"/>
            <a:ext cx="11457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shown in the final report will come from executed experiments; none are claimed here.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5486400"/>
            <a:ext cx="11457432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5486400"/>
            <a:ext cx="64008" cy="137160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548640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5C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Contribution: </a:t>
            </a:r>
            <a:r>
              <a:rPr lang="en-US" sz="2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reproducible protocol separating available from retrospective weather information, with complexity and error analysis.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57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81360" y="72694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11457432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Eren, E., &amp; Uz, V. E. (2020). A review on bike-sharing: The factors affecting bike-sharing demand. Sustainable Cities and Society, 54, 101882. https://doi.org/10.1016/j.scs.2019.101882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Gebhart, K., &amp; Noland, R. B. (2014). The impact of weather conditions on bikeshare trips in Washington, DC. Transportation, 41(6), 1205–1225. https://doi.org/10.1007/s11116-014-9540-7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Pedregosa, F., et al. (2011). Scikit-learn: Machine learning in Python. Journal of Machine Learning Research, 12, 2825–2830.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Sathishkumar, V. E., &amp; Cho, Y. (2020). A rule-based model for Seoul Bike sharing demand prediction using weather data. European Journal of Remote Sensing, 53(sup1), 166–183. https://doi.org/10.1080/22797254.2020.1725789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Xin, Q. (2026). Probabilistic bike-sharing demand forecasting under changing weather and seasonal regimes with Transformer-based models. Findings. https://doi.org/10.32866/001c.157499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Seoul Bike Sharing Demand [Data set]. UCI Machine Learning Repository. https://doi.org/10.24432/C5F62R</a:t>
            </a:r>
            <a:endParaRPr lang="en-US" sz="16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Seoul Bike Sharing Demand Prediction [Data set]. Kaggle. https://www.kaggle.com/datasets/saurabhshahane/seoul-bike-sharing-demand-prediction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2401</Words>
  <Application>Microsoft Macintosh PowerPoint</Application>
  <PresentationFormat>自訂</PresentationFormat>
  <Paragraphs>344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Weather Information Availability on One-Hour-Ahead Bike-Sharing Demand Forecasting: A Cross-Model Study</dc:title>
  <dc:subject>PptxGenJS Presentation</dc:subject>
  <dc:creator>PptxGenJS</dc:creator>
  <cp:lastModifiedBy>黃竑**</cp:lastModifiedBy>
  <cp:revision>3</cp:revision>
  <dcterms:created xsi:type="dcterms:W3CDTF">2026-10-21T06:48:20Z</dcterms:created>
  <dcterms:modified xsi:type="dcterms:W3CDTF">2026-10-21T07:05:10Z</dcterms:modified>
</cp:coreProperties>
</file>